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Montserrat Heavy" charset="1" panose="00000A00000000000000"/>
      <p:regular r:id="rId30"/>
    </p:embeddedFont>
    <p:embeddedFont>
      <p:font typeface="Montserrat Light" charset="1" panose="00000400000000000000"/>
      <p:regular r:id="rId31"/>
    </p:embeddedFont>
    <p:embeddedFont>
      <p:font typeface="Holiday" charset="1" panose="00000000000000000000"/>
      <p:regular r:id="rId32"/>
    </p:embeddedFont>
    <p:embeddedFont>
      <p:font typeface="Montserrat" charset="1" panose="00000500000000000000"/>
      <p:regular r:id="rId33"/>
    </p:embeddedFont>
    <p:embeddedFont>
      <p:font typeface="Montserrat Bold" charset="1" panose="00000800000000000000"/>
      <p:regular r:id="rId34"/>
    </p:embeddedFont>
    <p:embeddedFont>
      <p:font typeface="Montserrat Medium" charset="1" panose="00000600000000000000"/>
      <p:regular r:id="rId35"/>
    </p:embeddedFont>
    <p:embeddedFont>
      <p:font typeface="League Spartan" charset="1" panose="00000800000000000000"/>
      <p:regular r:id="rId36"/>
    </p:embeddedFont>
    <p:embeddedFont>
      <p:font typeface="Montserrat Bold Italics" charset="1" panose="000008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2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28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9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support.riotgames.com/en-us/league-of-legends/gameplay/patch-schedule-league-of-legends" TargetMode="External" Type="http://schemas.openxmlformats.org/officeDocument/2006/relationships/hyperlink"/><Relationship Id="rId11" Target="https://dn790001.ca.archive.org/0/items/bme-vik-konyvek/Software%20Engineering%20-%20Ian%20Sommerville.pdf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https://www.epic.com" TargetMode="External" Type="http://schemas.openxmlformats.org/officeDocument/2006/relationships/hyperlink"/><Relationship Id="rId5" Target="https://open.epic.com/DeveloperResources" TargetMode="External" Type="http://schemas.openxmlformats.org/officeDocument/2006/relationships/hyperlink"/><Relationship Id="rId6" Target="https://careers.epic.com/jobs/quality-manager/" TargetMode="External" Type="http://schemas.openxmlformats.org/officeDocument/2006/relationships/hyperlink"/><Relationship Id="rId7" Target="https://careers.epic.com/jobs/quality-manager/" TargetMode="External" Type="http://schemas.openxmlformats.org/officeDocument/2006/relationships/hyperlink"/><Relationship Id="rId8" Target="https://www.riotgames.com/en/news/automated-testing-league-legends" TargetMode="External" Type="http://schemas.openxmlformats.org/officeDocument/2006/relationships/hyperlink"/><Relationship Id="rId9" Target="https://www.riotgames.com/en/news/running-automated-test-pipeline-league-client-update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07389">
            <a:off x="54954" y="3466428"/>
            <a:ext cx="18178092" cy="13641143"/>
          </a:xfrm>
          <a:custGeom>
            <a:avLst/>
            <a:gdLst/>
            <a:ahLst/>
            <a:cxnLst/>
            <a:rect r="r" b="b" t="t" l="l"/>
            <a:pathLst>
              <a:path h="13641143" w="18178092">
                <a:moveTo>
                  <a:pt x="0" y="0"/>
                </a:moveTo>
                <a:lnTo>
                  <a:pt x="18178092" y="0"/>
                </a:lnTo>
                <a:lnTo>
                  <a:pt x="18178092" y="13641144"/>
                </a:lnTo>
                <a:lnTo>
                  <a:pt x="0" y="13641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6187" y="3082609"/>
            <a:ext cx="17553745" cy="298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99"/>
              </a:lnSpc>
            </a:pPr>
            <a:r>
              <a:rPr lang="en-US" b="true" sz="9999" spc="319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SOFTWARE PROCESS AND MODELS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2737" y="2431781"/>
            <a:ext cx="8442526" cy="70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71"/>
              </a:lnSpc>
            </a:pPr>
            <a:r>
              <a:rPr lang="en-US" sz="472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PRESENTATION OF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35798" y="5946459"/>
            <a:ext cx="481640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Holiday"/>
                <a:ea typeface="Holiday"/>
                <a:cs typeface="Holiday"/>
                <a:sym typeface="Holiday"/>
              </a:rPr>
              <a:t>Jocy Andrade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8236" y="639251"/>
            <a:ext cx="16491529" cy="9647749"/>
          </a:xfrm>
          <a:custGeom>
            <a:avLst/>
            <a:gdLst/>
            <a:ahLst/>
            <a:cxnLst/>
            <a:rect r="r" b="b" t="t" l="l"/>
            <a:pathLst>
              <a:path h="9647749" w="16491529">
                <a:moveTo>
                  <a:pt x="0" y="0"/>
                </a:moveTo>
                <a:lnTo>
                  <a:pt x="16491528" y="0"/>
                </a:lnTo>
                <a:lnTo>
                  <a:pt x="16491528" y="9647749"/>
                </a:lnTo>
                <a:lnTo>
                  <a:pt x="0" y="9647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48" t="0" r="-3548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545493" y="2165847"/>
            <a:ext cx="11197014" cy="177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1"/>
              </a:lnSpc>
            </a:pPr>
            <a:r>
              <a:rPr lang="en-US" b="true" sz="5925" spc="189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What is a Software Process?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27299" y="3838247"/>
            <a:ext cx="9633401" cy="475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Organized activities  used to create software.</a:t>
            </a:r>
          </a:p>
          <a:p>
            <a:pPr algn="l" marL="647695" indent="-323848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It’s more than just coding.</a:t>
            </a:r>
          </a:p>
          <a:p>
            <a:pPr algn="l" marL="647695" indent="-323848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Helps a team go from  idea ⟶ finished product!</a:t>
            </a:r>
          </a:p>
          <a:p>
            <a:pPr algn="l" marL="647695" indent="-323848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Helps to manage quality, time, cost and change!</a:t>
            </a:r>
          </a:p>
          <a:p>
            <a:pPr algn="l" marL="647695" indent="-323848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Creates a consistent way to develop a structure.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995505">
            <a:off x="-6508604" y="799949"/>
            <a:ext cx="15934719" cy="11957678"/>
          </a:xfrm>
          <a:custGeom>
            <a:avLst/>
            <a:gdLst/>
            <a:ahLst/>
            <a:cxnLst/>
            <a:rect r="r" b="b" t="t" l="l"/>
            <a:pathLst>
              <a:path h="11957678" w="15934719">
                <a:moveTo>
                  <a:pt x="0" y="0"/>
                </a:moveTo>
                <a:lnTo>
                  <a:pt x="15934718" y="0"/>
                </a:lnTo>
                <a:lnTo>
                  <a:pt x="15934718" y="11957678"/>
                </a:lnTo>
                <a:lnTo>
                  <a:pt x="0" y="11957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16562" y="2471005"/>
            <a:ext cx="1375936" cy="1375936"/>
          </a:xfrm>
          <a:custGeom>
            <a:avLst/>
            <a:gdLst/>
            <a:ahLst/>
            <a:cxnLst/>
            <a:rect r="r" b="b" t="t" l="l"/>
            <a:pathLst>
              <a:path h="1375936" w="1375936">
                <a:moveTo>
                  <a:pt x="0" y="0"/>
                </a:moveTo>
                <a:lnTo>
                  <a:pt x="1375935" y="0"/>
                </a:lnTo>
                <a:lnTo>
                  <a:pt x="1375935" y="1375936"/>
                </a:lnTo>
                <a:lnTo>
                  <a:pt x="0" y="1375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116562" y="5439391"/>
            <a:ext cx="1375936" cy="1375936"/>
          </a:xfrm>
          <a:custGeom>
            <a:avLst/>
            <a:gdLst/>
            <a:ahLst/>
            <a:cxnLst/>
            <a:rect r="r" b="b" t="t" l="l"/>
            <a:pathLst>
              <a:path h="1375936" w="1375936">
                <a:moveTo>
                  <a:pt x="0" y="0"/>
                </a:moveTo>
                <a:lnTo>
                  <a:pt x="1375935" y="0"/>
                </a:lnTo>
                <a:lnTo>
                  <a:pt x="1375935" y="1375935"/>
                </a:lnTo>
                <a:lnTo>
                  <a:pt x="0" y="1375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753964" y="2471005"/>
            <a:ext cx="1375936" cy="1375936"/>
          </a:xfrm>
          <a:custGeom>
            <a:avLst/>
            <a:gdLst/>
            <a:ahLst/>
            <a:cxnLst/>
            <a:rect r="r" b="b" t="t" l="l"/>
            <a:pathLst>
              <a:path h="1375936" w="1375936">
                <a:moveTo>
                  <a:pt x="0" y="0"/>
                </a:moveTo>
                <a:lnTo>
                  <a:pt x="1375935" y="0"/>
                </a:lnTo>
                <a:lnTo>
                  <a:pt x="1375935" y="1375936"/>
                </a:lnTo>
                <a:lnTo>
                  <a:pt x="0" y="1375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753964" y="5439391"/>
            <a:ext cx="1375936" cy="1375936"/>
          </a:xfrm>
          <a:custGeom>
            <a:avLst/>
            <a:gdLst/>
            <a:ahLst/>
            <a:cxnLst/>
            <a:rect r="r" b="b" t="t" l="l"/>
            <a:pathLst>
              <a:path h="1375936" w="1375936">
                <a:moveTo>
                  <a:pt x="0" y="0"/>
                </a:moveTo>
                <a:lnTo>
                  <a:pt x="1375935" y="0"/>
                </a:lnTo>
                <a:lnTo>
                  <a:pt x="1375935" y="1375935"/>
                </a:lnTo>
                <a:lnTo>
                  <a:pt x="0" y="1375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489302" y="2804423"/>
            <a:ext cx="630455" cy="709100"/>
          </a:xfrm>
          <a:custGeom>
            <a:avLst/>
            <a:gdLst/>
            <a:ahLst/>
            <a:cxnLst/>
            <a:rect r="r" b="b" t="t" l="l"/>
            <a:pathLst>
              <a:path h="709100" w="630455">
                <a:moveTo>
                  <a:pt x="0" y="0"/>
                </a:moveTo>
                <a:lnTo>
                  <a:pt x="630455" y="0"/>
                </a:lnTo>
                <a:lnTo>
                  <a:pt x="630455" y="709100"/>
                </a:lnTo>
                <a:lnTo>
                  <a:pt x="0" y="709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27691" y="2869872"/>
            <a:ext cx="628480" cy="578201"/>
          </a:xfrm>
          <a:custGeom>
            <a:avLst/>
            <a:gdLst/>
            <a:ahLst/>
            <a:cxnLst/>
            <a:rect r="r" b="b" t="t" l="l"/>
            <a:pathLst>
              <a:path h="578201" w="628480">
                <a:moveTo>
                  <a:pt x="0" y="0"/>
                </a:moveTo>
                <a:lnTo>
                  <a:pt x="628480" y="0"/>
                </a:lnTo>
                <a:lnTo>
                  <a:pt x="628480" y="578202"/>
                </a:lnTo>
                <a:lnTo>
                  <a:pt x="0" y="578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79992" y="5843203"/>
            <a:ext cx="523879" cy="568311"/>
          </a:xfrm>
          <a:custGeom>
            <a:avLst/>
            <a:gdLst/>
            <a:ahLst/>
            <a:cxnLst/>
            <a:rect r="r" b="b" t="t" l="l"/>
            <a:pathLst>
              <a:path h="568311" w="523879">
                <a:moveTo>
                  <a:pt x="0" y="0"/>
                </a:moveTo>
                <a:lnTo>
                  <a:pt x="523879" y="0"/>
                </a:lnTo>
                <a:lnTo>
                  <a:pt x="523879" y="568311"/>
                </a:lnTo>
                <a:lnTo>
                  <a:pt x="0" y="5683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23280" y="4063435"/>
            <a:ext cx="4762500" cy="88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3"/>
              </a:lnSpc>
            </a:pPr>
            <a:r>
              <a:rPr lang="en-US" b="true" sz="22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Specification:</a:t>
            </a:r>
            <a:r>
              <a:rPr lang="en-US" b="true" sz="227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Decides what the software must do!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591337" y="5834218"/>
            <a:ext cx="426386" cy="586280"/>
          </a:xfrm>
          <a:custGeom>
            <a:avLst/>
            <a:gdLst/>
            <a:ahLst/>
            <a:cxnLst/>
            <a:rect r="r" b="b" t="t" l="l"/>
            <a:pathLst>
              <a:path h="586280" w="426386">
                <a:moveTo>
                  <a:pt x="0" y="0"/>
                </a:moveTo>
                <a:lnTo>
                  <a:pt x="426385" y="0"/>
                </a:lnTo>
                <a:lnTo>
                  <a:pt x="426385" y="586281"/>
                </a:lnTo>
                <a:lnTo>
                  <a:pt x="0" y="5862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36472" y="6916029"/>
            <a:ext cx="4762500" cy="88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3"/>
              </a:lnSpc>
            </a:pPr>
            <a:r>
              <a:rPr lang="en-US" b="true" sz="22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Validation:</a:t>
            </a:r>
            <a:r>
              <a:rPr lang="en-US" b="true" sz="227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Testing to make sure the program  works correctly.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60681" y="3997394"/>
            <a:ext cx="4762500" cy="134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3"/>
              </a:lnSpc>
            </a:pPr>
            <a:r>
              <a:rPr lang="en-US" b="true" sz="22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Development:</a:t>
            </a:r>
            <a:r>
              <a:rPr lang="en-US" b="true" sz="227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This is when  a Software Engineer designs and builds the system.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60681" y="6916029"/>
            <a:ext cx="4762500" cy="134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3"/>
              </a:lnSpc>
            </a:pPr>
            <a:r>
              <a:rPr lang="en-US" b="true" sz="22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Evolution:</a:t>
            </a:r>
            <a:r>
              <a:rPr lang="en-US" b="true" sz="227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Making sure  the program stays up to date after release by updating.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36472" y="445990"/>
            <a:ext cx="9713933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80"/>
              </a:lnSpc>
            </a:pPr>
            <a:r>
              <a:rPr lang="en-US" b="true" sz="6000" spc="192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The 4 fundamental processes: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77724" y="8486258"/>
            <a:ext cx="11145457" cy="112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4"/>
              </a:lnSpc>
            </a:pPr>
            <a:r>
              <a:rPr lang="en-US" sz="187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Example:</a:t>
            </a:r>
            <a:r>
              <a:rPr lang="en-US" sz="18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For  a shopping app this is  how it would look -  </a:t>
            </a:r>
          </a:p>
          <a:p>
            <a:pPr algn="ctr">
              <a:lnSpc>
                <a:spcPts val="3004"/>
              </a:lnSpc>
            </a:pPr>
            <a:r>
              <a:rPr lang="en-US" sz="18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Requirements ⟶ Design ⟶ Code ⟶ Test ⟶ Release ⟶ Upddate</a:t>
            </a:r>
          </a:p>
          <a:p>
            <a:pPr algn="ctr" marL="0" indent="0" lvl="0">
              <a:lnSpc>
                <a:spcPts val="3004"/>
              </a:lnSpc>
            </a:pPr>
            <a:r>
              <a:rPr lang="en-US" b="true" sz="18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Visual:</a:t>
            </a:r>
            <a:r>
              <a:rPr lang="en-US" sz="18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Specification ⟶ Dev ⟶ Validation ⟶ Evolution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10761" y="1047750"/>
            <a:ext cx="9666478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80"/>
              </a:lnSpc>
            </a:pPr>
            <a:r>
              <a:rPr lang="en-US" b="true" sz="6000" spc="192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Software Process Models: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58238" y="3461287"/>
            <a:ext cx="5535202" cy="5535202"/>
          </a:xfrm>
          <a:custGeom>
            <a:avLst/>
            <a:gdLst/>
            <a:ahLst/>
            <a:cxnLst/>
            <a:rect r="r" b="b" t="t" l="l"/>
            <a:pathLst>
              <a:path h="5535202" w="5535202">
                <a:moveTo>
                  <a:pt x="0" y="0"/>
                </a:moveTo>
                <a:lnTo>
                  <a:pt x="5535202" y="0"/>
                </a:lnTo>
                <a:lnTo>
                  <a:pt x="5535202" y="5535202"/>
                </a:lnTo>
                <a:lnTo>
                  <a:pt x="0" y="5535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376399" y="3461287"/>
            <a:ext cx="5535202" cy="5535202"/>
          </a:xfrm>
          <a:custGeom>
            <a:avLst/>
            <a:gdLst/>
            <a:ahLst/>
            <a:cxnLst/>
            <a:rect r="r" b="b" t="t" l="l"/>
            <a:pathLst>
              <a:path h="5535202" w="5535202">
                <a:moveTo>
                  <a:pt x="0" y="0"/>
                </a:moveTo>
                <a:lnTo>
                  <a:pt x="5535202" y="0"/>
                </a:lnTo>
                <a:lnTo>
                  <a:pt x="5535202" y="5535202"/>
                </a:lnTo>
                <a:lnTo>
                  <a:pt x="0" y="5535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197351" y="3461287"/>
            <a:ext cx="5535202" cy="5535202"/>
          </a:xfrm>
          <a:custGeom>
            <a:avLst/>
            <a:gdLst/>
            <a:ahLst/>
            <a:cxnLst/>
            <a:rect r="r" b="b" t="t" l="l"/>
            <a:pathLst>
              <a:path h="5535202" w="5535202">
                <a:moveTo>
                  <a:pt x="0" y="0"/>
                </a:moveTo>
                <a:lnTo>
                  <a:pt x="5535202" y="0"/>
                </a:lnTo>
                <a:lnTo>
                  <a:pt x="5535202" y="5535202"/>
                </a:lnTo>
                <a:lnTo>
                  <a:pt x="0" y="5535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7151260" y="4884809"/>
            <a:ext cx="3985479" cy="304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Software is delivered in smaller versions to make sure each step is working correctly.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Feedback is given back more quickly which then influences later releases.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2212" y="5103884"/>
            <a:ext cx="3985479" cy="260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is when you bbuild a system using reusable software and components so it’ll never be outdated simply in need of upgrades.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3099" y="4884809"/>
            <a:ext cx="3985479" cy="260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 is  able to move through it’s planned phases.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is  a method best usedd when the requiremnts are stable.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82927" y="4234887"/>
            <a:ext cx="2485824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b="true" sz="3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Waterfall: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42107" y="4234887"/>
            <a:ext cx="3006578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b="true" sz="3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Incremental: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17027" y="3953899"/>
            <a:ext cx="3095850" cy="109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b="true" sz="3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Integration &amp; Configuration: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45405" y="2822260"/>
            <a:ext cx="5535202" cy="5535202"/>
          </a:xfrm>
          <a:custGeom>
            <a:avLst/>
            <a:gdLst/>
            <a:ahLst/>
            <a:cxnLst/>
            <a:rect r="r" b="b" t="t" l="l"/>
            <a:pathLst>
              <a:path h="5535202" w="5535202">
                <a:moveTo>
                  <a:pt x="0" y="0"/>
                </a:moveTo>
                <a:lnTo>
                  <a:pt x="5535202" y="0"/>
                </a:lnTo>
                <a:lnTo>
                  <a:pt x="5535202" y="5535202"/>
                </a:lnTo>
                <a:lnTo>
                  <a:pt x="0" y="5535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574723" y="2822260"/>
            <a:ext cx="5535202" cy="5535202"/>
          </a:xfrm>
          <a:custGeom>
            <a:avLst/>
            <a:gdLst/>
            <a:ahLst/>
            <a:cxnLst/>
            <a:rect r="r" b="b" t="t" l="l"/>
            <a:pathLst>
              <a:path h="5535202" w="5535202">
                <a:moveTo>
                  <a:pt x="0" y="0"/>
                </a:moveTo>
                <a:lnTo>
                  <a:pt x="5535202" y="0"/>
                </a:lnTo>
                <a:lnTo>
                  <a:pt x="5535202" y="5535202"/>
                </a:lnTo>
                <a:lnTo>
                  <a:pt x="0" y="5535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4310761" y="592455"/>
            <a:ext cx="9666478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80"/>
              </a:lnSpc>
            </a:pPr>
            <a:r>
              <a:rPr lang="en-US" b="true" sz="6000" spc="192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Plan-Driven Vs. Agile: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09717" y="3386801"/>
            <a:ext cx="3006578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b="true" sz="3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Plan-Driven: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39035" y="3386801"/>
            <a:ext cx="3006578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b="true" sz="3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Agile: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20266" y="4190066"/>
            <a:ext cx="3985479" cy="317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need to have detailed  planning before dev.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the documentation and schedules must be acccurate.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is also useful when predicatbility on multiple thing is important.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1742" y="4190066"/>
            <a:ext cx="3985479" cy="357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These systems have a shorter development cycle.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There is frequent customer feedback.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There are also faster responses to any changing requirements from clients, Software engineers, and users.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3289003">
            <a:off x="5306670" y="-1881096"/>
            <a:ext cx="18721856" cy="14049193"/>
          </a:xfrm>
          <a:custGeom>
            <a:avLst/>
            <a:gdLst/>
            <a:ahLst/>
            <a:cxnLst/>
            <a:rect r="r" b="b" t="t" l="l"/>
            <a:pathLst>
              <a:path h="14049193" w="18721856">
                <a:moveTo>
                  <a:pt x="18721855" y="14049192"/>
                </a:moveTo>
                <a:lnTo>
                  <a:pt x="0" y="14049192"/>
                </a:lnTo>
                <a:lnTo>
                  <a:pt x="0" y="0"/>
                </a:lnTo>
                <a:lnTo>
                  <a:pt x="18721855" y="0"/>
                </a:lnTo>
                <a:lnTo>
                  <a:pt x="18721855" y="14049192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907" y="591087"/>
            <a:ext cx="8282464" cy="9111752"/>
          </a:xfrm>
          <a:custGeom>
            <a:avLst/>
            <a:gdLst/>
            <a:ahLst/>
            <a:cxnLst/>
            <a:rect r="r" b="b" t="t" l="l"/>
            <a:pathLst>
              <a:path h="9111752" w="8282464">
                <a:moveTo>
                  <a:pt x="0" y="0"/>
                </a:moveTo>
                <a:lnTo>
                  <a:pt x="8282464" y="0"/>
                </a:lnTo>
                <a:lnTo>
                  <a:pt x="8282464" y="9111752"/>
                </a:lnTo>
                <a:lnTo>
                  <a:pt x="0" y="9111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06" t="0" r="-5006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814637" y="2644579"/>
            <a:ext cx="9208621" cy="4997841"/>
          </a:xfrm>
          <a:custGeom>
            <a:avLst/>
            <a:gdLst/>
            <a:ahLst/>
            <a:cxnLst/>
            <a:rect r="r" b="b" t="t" l="l"/>
            <a:pathLst>
              <a:path h="4997841" w="9208621">
                <a:moveTo>
                  <a:pt x="0" y="0"/>
                </a:moveTo>
                <a:lnTo>
                  <a:pt x="9208620" y="0"/>
                </a:lnTo>
                <a:lnTo>
                  <a:pt x="9208620" y="4997842"/>
                </a:lnTo>
                <a:lnTo>
                  <a:pt x="0" y="49978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1438" y="2906694"/>
            <a:ext cx="6371401" cy="557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Major Phases:</a:t>
            </a:r>
          </a:p>
          <a:p>
            <a:pPr algn="l" marL="431801" indent="-215900" lvl="1">
              <a:lnSpc>
                <a:spcPts val="32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Requirements Analysis</a:t>
            </a:r>
          </a:p>
          <a:p>
            <a:pPr algn="l" marL="431801" indent="-215900" lvl="1">
              <a:lnSpc>
                <a:spcPts val="32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System/Software Design</a:t>
            </a:r>
          </a:p>
          <a:p>
            <a:pPr algn="l" marL="431801" indent="-215900" lvl="1">
              <a:lnSpc>
                <a:spcPts val="32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Implementation and Unit Testing</a:t>
            </a:r>
          </a:p>
          <a:p>
            <a:pPr algn="l" marL="431801" indent="-215900" lvl="1">
              <a:lnSpc>
                <a:spcPts val="32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Integration and System Testing</a:t>
            </a:r>
          </a:p>
          <a:p>
            <a:pPr algn="l" marL="431801" indent="-215900" lvl="1">
              <a:lnSpc>
                <a:spcPts val="32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Operation and Maintenance</a:t>
            </a:r>
          </a:p>
          <a:p>
            <a:pPr algn="l" marL="863601" indent="-287867" lvl="2">
              <a:lnSpc>
                <a:spcPts val="3200"/>
              </a:lnSpc>
              <a:buAutoNum type="alphaLcPeriod" startAt="1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Each phase leads into the next</a:t>
            </a:r>
          </a:p>
          <a:p>
            <a:pPr algn="l" marL="863601" indent="-287867" lvl="2">
              <a:lnSpc>
                <a:spcPts val="3200"/>
              </a:lnSpc>
              <a:buAutoNum type="alphaLcPeriod" startAt="1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Major planning happens before development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It’s a plan-driven approach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Documentation Records decisions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Phases are generally completed before moving forward.</a:t>
            </a:r>
          </a:p>
          <a:p>
            <a:pPr algn="l" marL="431801" indent="-215900" lvl="1">
              <a:lnSpc>
                <a:spcPts val="32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Late requirement changes can be expensive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0016" y="1523490"/>
            <a:ext cx="687424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9"/>
              </a:lnSpc>
            </a:pPr>
            <a:r>
              <a:rPr lang="en-US" b="true" sz="4500" spc="144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Waterfall Model/Process: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45405" y="2822260"/>
            <a:ext cx="5535202" cy="5535202"/>
          </a:xfrm>
          <a:custGeom>
            <a:avLst/>
            <a:gdLst/>
            <a:ahLst/>
            <a:cxnLst/>
            <a:rect r="r" b="b" t="t" l="l"/>
            <a:pathLst>
              <a:path h="5535202" w="5535202">
                <a:moveTo>
                  <a:pt x="0" y="0"/>
                </a:moveTo>
                <a:lnTo>
                  <a:pt x="5535202" y="0"/>
                </a:lnTo>
                <a:lnTo>
                  <a:pt x="5535202" y="5535202"/>
                </a:lnTo>
                <a:lnTo>
                  <a:pt x="0" y="5535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574723" y="2822260"/>
            <a:ext cx="5535202" cy="5535202"/>
          </a:xfrm>
          <a:custGeom>
            <a:avLst/>
            <a:gdLst/>
            <a:ahLst/>
            <a:cxnLst/>
            <a:rect r="r" b="b" t="t" l="l"/>
            <a:pathLst>
              <a:path h="5535202" w="5535202">
                <a:moveTo>
                  <a:pt x="0" y="0"/>
                </a:moveTo>
                <a:lnTo>
                  <a:pt x="5535202" y="0"/>
                </a:lnTo>
                <a:lnTo>
                  <a:pt x="5535202" y="5535202"/>
                </a:lnTo>
                <a:lnTo>
                  <a:pt x="0" y="5535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4310761" y="592455"/>
            <a:ext cx="11281409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80"/>
              </a:lnSpc>
            </a:pPr>
            <a:r>
              <a:rPr lang="en-US" b="true" sz="6000" spc="192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Waterfall: Pros VS. Cons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09717" y="3386801"/>
            <a:ext cx="3006578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b="true" sz="3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39035" y="3386801"/>
            <a:ext cx="3006578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b="true" sz="3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20266" y="3838922"/>
            <a:ext cx="3985479" cy="3997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Clear project structure</a:t>
            </a:r>
          </a:p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Defined milestones &amp; responsiblities</a:t>
            </a:r>
          </a:p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Strong documentation</a:t>
            </a:r>
          </a:p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Easier progress tracking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59446" y="3838922"/>
            <a:ext cx="4565756" cy="3997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Difficult to handle changing requirements </a:t>
            </a:r>
          </a:p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Working software appears later </a:t>
            </a:r>
          </a:p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Problems may be discovered late.</a:t>
            </a:r>
          </a:p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Changes can require major reworks.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69802" y="8731250"/>
            <a:ext cx="11440123" cy="96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Waterfalls biggest weakness is its difficulty accommodating change once development is underway.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74777" y="2571750"/>
            <a:ext cx="10972800" cy="8229600"/>
          </a:xfrm>
          <a:custGeom>
            <a:avLst/>
            <a:gdLst/>
            <a:ahLst/>
            <a:cxnLst/>
            <a:rect r="r" b="b" t="t" l="l"/>
            <a:pathLst>
              <a:path h="8229600" w="10972800">
                <a:moveTo>
                  <a:pt x="0" y="0"/>
                </a:moveTo>
                <a:lnTo>
                  <a:pt x="10972800" y="0"/>
                </a:lnTo>
                <a:lnTo>
                  <a:pt x="109728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6382" y="2141890"/>
            <a:ext cx="17935235" cy="2343715"/>
          </a:xfrm>
          <a:custGeom>
            <a:avLst/>
            <a:gdLst/>
            <a:ahLst/>
            <a:cxnLst/>
            <a:rect r="r" b="b" t="t" l="l"/>
            <a:pathLst>
              <a:path h="2343715" w="17935235">
                <a:moveTo>
                  <a:pt x="0" y="0"/>
                </a:moveTo>
                <a:lnTo>
                  <a:pt x="17935236" y="0"/>
                </a:lnTo>
                <a:lnTo>
                  <a:pt x="17935236" y="2343715"/>
                </a:lnTo>
                <a:lnTo>
                  <a:pt x="0" y="23437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6829" y="5143500"/>
            <a:ext cx="16581647" cy="3086100"/>
            <a:chOff x="0" y="0"/>
            <a:chExt cx="436718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67183" cy="812800"/>
            </a:xfrm>
            <a:custGeom>
              <a:avLst/>
              <a:gdLst/>
              <a:ahLst/>
              <a:cxnLst/>
              <a:rect r="r" b="b" t="t" l="l"/>
              <a:pathLst>
                <a:path h="812800" w="4367183">
                  <a:moveTo>
                    <a:pt x="23812" y="0"/>
                  </a:moveTo>
                  <a:lnTo>
                    <a:pt x="4343371" y="0"/>
                  </a:lnTo>
                  <a:cubicBezTo>
                    <a:pt x="4349686" y="0"/>
                    <a:pt x="4355743" y="2509"/>
                    <a:pt x="4360208" y="6974"/>
                  </a:cubicBezTo>
                  <a:cubicBezTo>
                    <a:pt x="4364674" y="11440"/>
                    <a:pt x="4367183" y="17496"/>
                    <a:pt x="4367183" y="23812"/>
                  </a:cubicBezTo>
                  <a:lnTo>
                    <a:pt x="4367183" y="788988"/>
                  </a:lnTo>
                  <a:cubicBezTo>
                    <a:pt x="4367183" y="802139"/>
                    <a:pt x="4356522" y="812800"/>
                    <a:pt x="4343371" y="812800"/>
                  </a:cubicBezTo>
                  <a:lnTo>
                    <a:pt x="23812" y="812800"/>
                  </a:lnTo>
                  <a:cubicBezTo>
                    <a:pt x="10661" y="812800"/>
                    <a:pt x="0" y="802139"/>
                    <a:pt x="0" y="788988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close/>
                </a:path>
              </a:pathLst>
            </a:custGeom>
            <a:solidFill>
              <a:srgbClr val="151A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6718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683077" y="1047750"/>
            <a:ext cx="11369149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80"/>
              </a:lnSpc>
              <a:spcBef>
                <a:spcPct val="0"/>
              </a:spcBef>
            </a:pPr>
            <a:r>
              <a:rPr lang="en-US" b="true" sz="6000" spc="192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Incremental Process: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1867" y="5466756"/>
            <a:ext cx="15897433" cy="231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857" indent="-315929" lvl="1">
              <a:lnSpc>
                <a:spcPts val="4682"/>
              </a:lnSpc>
              <a:buFont typeface="Arial"/>
              <a:buChar char="•"/>
            </a:pPr>
            <a:r>
              <a:rPr lang="en-US" sz="29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Customers evaluate early versions of the software.</a:t>
            </a:r>
          </a:p>
          <a:p>
            <a:pPr algn="l" marL="631857" indent="-315929" lvl="1">
              <a:lnSpc>
                <a:spcPts val="4682"/>
              </a:lnSpc>
              <a:buFont typeface="Arial"/>
              <a:buChar char="•"/>
            </a:pPr>
            <a:r>
              <a:rPr lang="en-US" sz="29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Changes can be made between increments.</a:t>
            </a:r>
          </a:p>
          <a:p>
            <a:pPr algn="l" marL="631857" indent="-315929" lvl="1">
              <a:lnSpc>
                <a:spcPts val="4682"/>
              </a:lnSpc>
              <a:buFont typeface="Arial"/>
              <a:buChar char="•"/>
            </a:pPr>
            <a:r>
              <a:rPr lang="en-US" sz="29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High-priority features are able to be delivered first.</a:t>
            </a:r>
          </a:p>
          <a:p>
            <a:pPr algn="l" marL="631857" indent="-315929" lvl="1">
              <a:lnSpc>
                <a:spcPts val="4682"/>
              </a:lnSpc>
              <a:spcBef>
                <a:spcPct val="0"/>
              </a:spcBef>
              <a:buFont typeface="Arial"/>
              <a:buChar char="•"/>
            </a:pPr>
            <a:r>
              <a:rPr lang="en-US" sz="29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process can reduce the cost of any changing requirements.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950993">
            <a:off x="10884790" y="-370053"/>
            <a:ext cx="12749019" cy="11957678"/>
          </a:xfrm>
          <a:custGeom>
            <a:avLst/>
            <a:gdLst/>
            <a:ahLst/>
            <a:cxnLst/>
            <a:rect r="r" b="b" t="t" l="l"/>
            <a:pathLst>
              <a:path h="11957678" w="12749019">
                <a:moveTo>
                  <a:pt x="0" y="0"/>
                </a:moveTo>
                <a:lnTo>
                  <a:pt x="12749020" y="0"/>
                </a:lnTo>
                <a:lnTo>
                  <a:pt x="12749020" y="11957679"/>
                </a:lnTo>
                <a:lnTo>
                  <a:pt x="0" y="11957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98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3918" y="-120944"/>
            <a:ext cx="10528889" cy="10528889"/>
          </a:xfrm>
          <a:custGeom>
            <a:avLst/>
            <a:gdLst/>
            <a:ahLst/>
            <a:cxnLst/>
            <a:rect r="r" b="b" t="t" l="l"/>
            <a:pathLst>
              <a:path h="10528889" w="10528889">
                <a:moveTo>
                  <a:pt x="0" y="0"/>
                </a:moveTo>
                <a:lnTo>
                  <a:pt x="10528889" y="0"/>
                </a:lnTo>
                <a:lnTo>
                  <a:pt x="10528889" y="10528888"/>
                </a:lnTo>
                <a:lnTo>
                  <a:pt x="0" y="10528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792807" y="2837553"/>
            <a:ext cx="2596091" cy="6940937"/>
          </a:xfrm>
          <a:custGeom>
            <a:avLst/>
            <a:gdLst/>
            <a:ahLst/>
            <a:cxnLst/>
            <a:rect r="r" b="b" t="t" l="l"/>
            <a:pathLst>
              <a:path h="6940937" w="2596091">
                <a:moveTo>
                  <a:pt x="0" y="0"/>
                </a:moveTo>
                <a:lnTo>
                  <a:pt x="2596090" y="0"/>
                </a:lnTo>
                <a:lnTo>
                  <a:pt x="2596090" y="6940937"/>
                </a:lnTo>
                <a:lnTo>
                  <a:pt x="0" y="6940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8951" y="1038225"/>
            <a:ext cx="8018822" cy="181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35"/>
              </a:lnSpc>
            </a:pPr>
            <a:r>
              <a:rPr lang="en-US" b="true" sz="6046" spc="193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Integration and Configuration: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39842" y="3709533"/>
            <a:ext cx="6777040" cy="441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6179" indent="-288090" lvl="1">
              <a:lnSpc>
                <a:spcPts val="3202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method reuses existing software instead of starting from scratch</a:t>
            </a:r>
          </a:p>
          <a:p>
            <a:pPr algn="l" marL="576179" indent="-288090" lvl="1">
              <a:lnSpc>
                <a:spcPts val="3202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May use components, frameworks, APIs &amp; services.</a:t>
            </a:r>
          </a:p>
          <a:p>
            <a:pPr algn="l" marL="576179" indent="-288090" lvl="1">
              <a:lnSpc>
                <a:spcPts val="3202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Existing software is evaluated for project needs.</a:t>
            </a:r>
          </a:p>
          <a:p>
            <a:pPr algn="l" marL="576179" indent="-288090" lvl="1">
              <a:lnSpc>
                <a:spcPts val="3202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Requirements may change based on available components,</a:t>
            </a:r>
          </a:p>
          <a:p>
            <a:pPr algn="l" marL="576179" indent="-288090" lvl="1">
              <a:lnSpc>
                <a:spcPts val="3202"/>
              </a:lnSpc>
              <a:spcBef>
                <a:spcPct val="0"/>
              </a:spcBef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Components are configured, adapted, &amp; Integrated.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621227" y="2669949"/>
            <a:ext cx="3638073" cy="3638073"/>
          </a:xfrm>
          <a:custGeom>
            <a:avLst/>
            <a:gdLst/>
            <a:ahLst/>
            <a:cxnLst/>
            <a:rect r="r" b="b" t="t" l="l"/>
            <a:pathLst>
              <a:path h="3638073" w="3638073">
                <a:moveTo>
                  <a:pt x="0" y="0"/>
                </a:moveTo>
                <a:lnTo>
                  <a:pt x="3638073" y="0"/>
                </a:lnTo>
                <a:lnTo>
                  <a:pt x="3638073" y="3638073"/>
                </a:lnTo>
                <a:lnTo>
                  <a:pt x="0" y="3638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4342493" y="3604469"/>
            <a:ext cx="2195541" cy="17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232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Pros:</a:t>
            </a:r>
          </a:p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sz="232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Saves development time &amp; resources.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621227" y="6308022"/>
            <a:ext cx="3638073" cy="3638073"/>
          </a:xfrm>
          <a:custGeom>
            <a:avLst/>
            <a:gdLst/>
            <a:ahLst/>
            <a:cxnLst/>
            <a:rect r="r" b="b" t="t" l="l"/>
            <a:pathLst>
              <a:path h="3638073" w="3638073">
                <a:moveTo>
                  <a:pt x="0" y="0"/>
                </a:moveTo>
                <a:lnTo>
                  <a:pt x="3638073" y="0"/>
                </a:lnTo>
                <a:lnTo>
                  <a:pt x="3638073" y="3638073"/>
                </a:lnTo>
                <a:lnTo>
                  <a:pt x="0" y="3638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4342493" y="7068502"/>
            <a:ext cx="2195541" cy="211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232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Cons:</a:t>
            </a:r>
          </a:p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sz="232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Existing components may not meet every requirement.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35550" y="1038225"/>
            <a:ext cx="8018822" cy="181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35"/>
              </a:lnSpc>
            </a:pPr>
            <a:r>
              <a:rPr lang="en-US" b="true" sz="6046" spc="193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Reuse-Based Process: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9018958">
            <a:off x="-1259248" y="2263184"/>
            <a:ext cx="24025991" cy="18029504"/>
          </a:xfrm>
          <a:custGeom>
            <a:avLst/>
            <a:gdLst/>
            <a:ahLst/>
            <a:cxnLst/>
            <a:rect r="r" b="b" t="t" l="l"/>
            <a:pathLst>
              <a:path h="18029504" w="24025991">
                <a:moveTo>
                  <a:pt x="24025991" y="18029504"/>
                </a:moveTo>
                <a:lnTo>
                  <a:pt x="0" y="18029504"/>
                </a:lnTo>
                <a:lnTo>
                  <a:pt x="0" y="0"/>
                </a:lnTo>
                <a:lnTo>
                  <a:pt x="24025991" y="0"/>
                </a:lnTo>
                <a:lnTo>
                  <a:pt x="24025991" y="1802950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63646" y="700513"/>
            <a:ext cx="9363849" cy="177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1"/>
              </a:lnSpc>
            </a:pPr>
            <a:r>
              <a:rPr lang="en-US" b="true" sz="5925" spc="189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Complete Software Process: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7498" y="4838701"/>
            <a:ext cx="2747704" cy="147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Identify requirements &amp; constraints.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7498" y="3665536"/>
            <a:ext cx="2747704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Specification: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16287" y="3422649"/>
            <a:ext cx="3620640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 &amp; Implementation: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49690" y="3684586"/>
            <a:ext cx="2485824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Validation: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10352" y="3665536"/>
            <a:ext cx="2485824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Evolution: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39151" y="3665536"/>
            <a:ext cx="2485824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 Idea: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52754" y="4838701"/>
            <a:ext cx="2747704" cy="19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architecture and write code.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18750" y="4838701"/>
            <a:ext cx="2834998" cy="147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 software against requirements.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79412" y="4838701"/>
            <a:ext cx="2747704" cy="147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Fix, improve, and adapt after release.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08210" y="4838701"/>
            <a:ext cx="2922292" cy="19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Development doesn’t end when version 1 is released.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00952" y="3961572"/>
            <a:ext cx="4260753" cy="4260736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2125" t="0" r="-22125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717159" y="1440318"/>
            <a:ext cx="7011029" cy="771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 needs evolve.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tech starts to become available as it advances.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Bugs and security issues are discovered.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or legal requirements change.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Competitors &amp; markets influence expectations.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Changes may affect: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Cost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Schedule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Documentation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492832"/>
            <a:ext cx="6205256" cy="163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43"/>
              </a:lnSpc>
            </a:pPr>
            <a:r>
              <a:rPr lang="en-US" b="true" sz="4399" i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Software Changes: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5168" y="971550"/>
            <a:ext cx="7011029" cy="856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Prototyping: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Creates an early version of an idea.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Helps clarify unclear requirements.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Allows designs to be evaluated early.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Incremental Delivery: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Useful features delivered in stages.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Customers receive value sooner.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Feedback improves later releases.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Reduces risk from changing requirements.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92188" y="4376217"/>
            <a:ext cx="4260753" cy="4260736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33419" t="0" r="-3341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19936" y="895350"/>
            <a:ext cx="6205256" cy="163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43"/>
              </a:lnSpc>
            </a:pPr>
            <a:r>
              <a:rPr lang="en-US" b="true" sz="4399" i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Prototyping &amp; Incremental Delivery: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950993">
            <a:off x="10884790" y="-370053"/>
            <a:ext cx="12749019" cy="11957678"/>
          </a:xfrm>
          <a:custGeom>
            <a:avLst/>
            <a:gdLst/>
            <a:ahLst/>
            <a:cxnLst/>
            <a:rect r="r" b="b" t="t" l="l"/>
            <a:pathLst>
              <a:path h="11957678" w="12749019">
                <a:moveTo>
                  <a:pt x="0" y="0"/>
                </a:moveTo>
                <a:lnTo>
                  <a:pt x="12749020" y="0"/>
                </a:lnTo>
                <a:lnTo>
                  <a:pt x="12749020" y="11957679"/>
                </a:lnTo>
                <a:lnTo>
                  <a:pt x="0" y="11957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98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3918" y="703459"/>
            <a:ext cx="8880082" cy="9275804"/>
          </a:xfrm>
          <a:custGeom>
            <a:avLst/>
            <a:gdLst/>
            <a:ahLst/>
            <a:cxnLst/>
            <a:rect r="r" b="b" t="t" l="l"/>
            <a:pathLst>
              <a:path h="9275804" w="8880082">
                <a:moveTo>
                  <a:pt x="0" y="0"/>
                </a:moveTo>
                <a:lnTo>
                  <a:pt x="8880082" y="0"/>
                </a:lnTo>
                <a:lnTo>
                  <a:pt x="8880082" y="9275804"/>
                </a:lnTo>
                <a:lnTo>
                  <a:pt x="0" y="9275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28" t="0" r="-2228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9384310" y="3457110"/>
            <a:ext cx="7874990" cy="5246370"/>
            <a:chOff x="0" y="0"/>
            <a:chExt cx="122004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042" cy="812800"/>
            </a:xfrm>
            <a:custGeom>
              <a:avLst/>
              <a:gdLst/>
              <a:ahLst/>
              <a:cxnLst/>
              <a:rect r="r" b="b" t="t" l="l"/>
              <a:pathLst>
                <a:path h="812800" w="1220042">
                  <a:moveTo>
                    <a:pt x="22611" y="0"/>
                  </a:moveTo>
                  <a:lnTo>
                    <a:pt x="1197431" y="0"/>
                  </a:lnTo>
                  <a:cubicBezTo>
                    <a:pt x="1209919" y="0"/>
                    <a:pt x="1220042" y="10123"/>
                    <a:pt x="1220042" y="22611"/>
                  </a:cubicBezTo>
                  <a:lnTo>
                    <a:pt x="1220042" y="790189"/>
                  </a:lnTo>
                  <a:cubicBezTo>
                    <a:pt x="1220042" y="802677"/>
                    <a:pt x="1209919" y="812800"/>
                    <a:pt x="1197431" y="812800"/>
                  </a:cubicBezTo>
                  <a:lnTo>
                    <a:pt x="22611" y="812800"/>
                  </a:lnTo>
                  <a:cubicBezTo>
                    <a:pt x="10123" y="812800"/>
                    <a:pt x="0" y="802677"/>
                    <a:pt x="0" y="790189"/>
                  </a:cubicBezTo>
                  <a:lnTo>
                    <a:pt x="0" y="22611"/>
                  </a:lnTo>
                  <a:cubicBezTo>
                    <a:pt x="0" y="10123"/>
                    <a:pt x="10123" y="0"/>
                    <a:pt x="22611" y="0"/>
                  </a:cubicBezTo>
                  <a:close/>
                </a:path>
              </a:pathLst>
            </a:custGeom>
            <a:blipFill>
              <a:blip r:embed="rId5"/>
              <a:stretch>
                <a:fillRect l="-17259" t="0" r="-1725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22415" y="1682596"/>
            <a:ext cx="6763087" cy="152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8"/>
              </a:lnSpc>
            </a:pPr>
            <a:r>
              <a:rPr lang="en-US" b="true" sz="5100" spc="163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Real-World Application 1: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6076" y="3202846"/>
            <a:ext cx="5715766" cy="5745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Company:</a:t>
            </a: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Epic System</a:t>
            </a:r>
          </a:p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System:</a:t>
            </a: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EpicCare Electronic Health Record.</a:t>
            </a:r>
          </a:p>
          <a:p>
            <a:pPr algn="l">
              <a:lnSpc>
                <a:spcPts val="2700"/>
              </a:lnSpc>
            </a:pPr>
          </a:p>
          <a:p>
            <a:pPr algn="l" marL="485951" indent="-242975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Used by healthcare organizations.</a:t>
            </a:r>
          </a:p>
          <a:p>
            <a:pPr algn="l" marL="485951" indent="-242975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Stores &amp; manages patient health information.</a:t>
            </a:r>
          </a:p>
          <a:p>
            <a:pPr algn="l" marL="485951" indent="-242975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Supports clinical workflows</a:t>
            </a:r>
          </a:p>
          <a:p>
            <a:pPr algn="l" marL="485951" indent="-242975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Connects information across healthcare systems</a:t>
            </a:r>
          </a:p>
          <a:p>
            <a:pPr algn="l" marL="485951" indent="-242975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Helps clinicians coordinate patient care.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Epic reports extensive interoperability between healthcare organizations through systems such as Care Everywhere.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40261" y="1798958"/>
            <a:ext cx="6763087" cy="130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92"/>
              </a:lnSpc>
            </a:pPr>
            <a:r>
              <a:rPr lang="en-US" b="true" sz="4400" spc="14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Example photo of System: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9976" y="2810117"/>
            <a:ext cx="8305372" cy="6057740"/>
            <a:chOff x="0" y="0"/>
            <a:chExt cx="1286719" cy="9385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6720" cy="938503"/>
            </a:xfrm>
            <a:custGeom>
              <a:avLst/>
              <a:gdLst/>
              <a:ahLst/>
              <a:cxnLst/>
              <a:rect r="r" b="b" t="t" l="l"/>
              <a:pathLst>
                <a:path h="938503" w="1286720">
                  <a:moveTo>
                    <a:pt x="93216" y="0"/>
                  </a:moveTo>
                  <a:lnTo>
                    <a:pt x="1193504" y="0"/>
                  </a:lnTo>
                  <a:cubicBezTo>
                    <a:pt x="1244985" y="0"/>
                    <a:pt x="1286720" y="41734"/>
                    <a:pt x="1286720" y="93216"/>
                  </a:cubicBezTo>
                  <a:lnTo>
                    <a:pt x="1286720" y="845287"/>
                  </a:lnTo>
                  <a:cubicBezTo>
                    <a:pt x="1286720" y="896768"/>
                    <a:pt x="1244985" y="938503"/>
                    <a:pt x="1193504" y="938503"/>
                  </a:cubicBezTo>
                  <a:lnTo>
                    <a:pt x="93216" y="938503"/>
                  </a:lnTo>
                  <a:cubicBezTo>
                    <a:pt x="41734" y="938503"/>
                    <a:pt x="0" y="896768"/>
                    <a:pt x="0" y="845287"/>
                  </a:cubicBezTo>
                  <a:lnTo>
                    <a:pt x="0" y="93216"/>
                  </a:lnTo>
                  <a:cubicBezTo>
                    <a:pt x="0" y="41734"/>
                    <a:pt x="41734" y="0"/>
                    <a:pt x="93216" y="0"/>
                  </a:cubicBezTo>
                  <a:close/>
                </a:path>
              </a:pathLst>
            </a:custGeom>
            <a:blipFill>
              <a:blip r:embed="rId3"/>
              <a:stretch>
                <a:fillRect l="-940" t="0" r="-94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307536" y="2724392"/>
            <a:ext cx="7733717" cy="610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Healthcare workflow influences requirements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Quality teams observe real clinical environments.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Software functionality &amp; usability are tested.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APIs support integration with other applications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Sandbox environments support development/testing.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 environments require additional testing.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Software continues evolving through new releases.</a:t>
            </a:r>
          </a:p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Epic says its quality staff observes clinicians’ workflow in an actual healthcare environment. Its developer resources also describe sandbox testing, followed by customer-specific implementation, configuration, non-production testing, troubleshooting, and release.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49509" y="268575"/>
            <a:ext cx="8916053" cy="152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8"/>
              </a:lnSpc>
            </a:pPr>
            <a:r>
              <a:rPr lang="en-US" b="true" sz="5100" spc="163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How Epic Software is Developed: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73853" y="2239958"/>
            <a:ext cx="1993730" cy="7769047"/>
          </a:xfrm>
          <a:custGeom>
            <a:avLst/>
            <a:gdLst/>
            <a:ahLst/>
            <a:cxnLst/>
            <a:rect r="r" b="b" t="t" l="l"/>
            <a:pathLst>
              <a:path h="7769047" w="1993730">
                <a:moveTo>
                  <a:pt x="0" y="0"/>
                </a:moveTo>
                <a:lnTo>
                  <a:pt x="1993730" y="0"/>
                </a:lnTo>
                <a:lnTo>
                  <a:pt x="1993730" y="7769047"/>
                </a:lnTo>
                <a:lnTo>
                  <a:pt x="0" y="776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76016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67583" y="9258300"/>
            <a:ext cx="387202" cy="387202"/>
          </a:xfrm>
          <a:custGeom>
            <a:avLst/>
            <a:gdLst/>
            <a:ahLst/>
            <a:cxnLst/>
            <a:rect r="r" b="b" t="t" l="l"/>
            <a:pathLst>
              <a:path h="387202" w="387202">
                <a:moveTo>
                  <a:pt x="0" y="0"/>
                </a:moveTo>
                <a:lnTo>
                  <a:pt x="387202" y="0"/>
                </a:lnTo>
                <a:lnTo>
                  <a:pt x="387202" y="387202"/>
                </a:lnTo>
                <a:lnTo>
                  <a:pt x="0" y="387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28700"/>
            <a:ext cx="6820793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 spc="179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EpicCare Process Model: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29799" y="457541"/>
            <a:ext cx="5629501" cy="145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3"/>
              </a:lnSpc>
              <a:spcBef>
                <a:spcPct val="0"/>
              </a:spcBef>
            </a:pPr>
            <a:r>
              <a:rPr lang="en-US" sz="317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My Interpretation: Hybrid Agile and Waterfall 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6546" y="3193975"/>
            <a:ext cx="6445102" cy="6257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Plan-Driven characteristics for safety &amp; compliance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Incremental evolution through new features/releases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Integration with APIs &amp; outside systems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Extensive validation before deployment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 the right, you’ll see my interpretation of their system based on what I’ve researched.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950993">
            <a:off x="10884790" y="-370053"/>
            <a:ext cx="12749019" cy="11957678"/>
          </a:xfrm>
          <a:custGeom>
            <a:avLst/>
            <a:gdLst/>
            <a:ahLst/>
            <a:cxnLst/>
            <a:rect r="r" b="b" t="t" l="l"/>
            <a:pathLst>
              <a:path h="11957678" w="12749019">
                <a:moveTo>
                  <a:pt x="0" y="0"/>
                </a:moveTo>
                <a:lnTo>
                  <a:pt x="12749020" y="0"/>
                </a:lnTo>
                <a:lnTo>
                  <a:pt x="12749020" y="11957679"/>
                </a:lnTo>
                <a:lnTo>
                  <a:pt x="0" y="11957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98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3918" y="703459"/>
            <a:ext cx="8880082" cy="9275804"/>
          </a:xfrm>
          <a:custGeom>
            <a:avLst/>
            <a:gdLst/>
            <a:ahLst/>
            <a:cxnLst/>
            <a:rect r="r" b="b" t="t" l="l"/>
            <a:pathLst>
              <a:path h="9275804" w="8880082">
                <a:moveTo>
                  <a:pt x="0" y="0"/>
                </a:moveTo>
                <a:lnTo>
                  <a:pt x="8880082" y="0"/>
                </a:lnTo>
                <a:lnTo>
                  <a:pt x="8880082" y="9275804"/>
                </a:lnTo>
                <a:lnTo>
                  <a:pt x="0" y="9275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28" t="0" r="-2228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9384310" y="3457110"/>
            <a:ext cx="7874990" cy="5246370"/>
            <a:chOff x="0" y="0"/>
            <a:chExt cx="122004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042" cy="812800"/>
            </a:xfrm>
            <a:custGeom>
              <a:avLst/>
              <a:gdLst/>
              <a:ahLst/>
              <a:cxnLst/>
              <a:rect r="r" b="b" t="t" l="l"/>
              <a:pathLst>
                <a:path h="812800" w="1220042">
                  <a:moveTo>
                    <a:pt x="22611" y="0"/>
                  </a:moveTo>
                  <a:lnTo>
                    <a:pt x="1197431" y="0"/>
                  </a:lnTo>
                  <a:cubicBezTo>
                    <a:pt x="1209919" y="0"/>
                    <a:pt x="1220042" y="10123"/>
                    <a:pt x="1220042" y="22611"/>
                  </a:cubicBezTo>
                  <a:lnTo>
                    <a:pt x="1220042" y="790189"/>
                  </a:lnTo>
                  <a:cubicBezTo>
                    <a:pt x="1220042" y="802677"/>
                    <a:pt x="1209919" y="812800"/>
                    <a:pt x="1197431" y="812800"/>
                  </a:cubicBezTo>
                  <a:lnTo>
                    <a:pt x="22611" y="812800"/>
                  </a:lnTo>
                  <a:cubicBezTo>
                    <a:pt x="10123" y="812800"/>
                    <a:pt x="0" y="802677"/>
                    <a:pt x="0" y="790189"/>
                  </a:cubicBezTo>
                  <a:lnTo>
                    <a:pt x="0" y="22611"/>
                  </a:lnTo>
                  <a:cubicBezTo>
                    <a:pt x="0" y="10123"/>
                    <a:pt x="10123" y="0"/>
                    <a:pt x="22611" y="0"/>
                  </a:cubicBezTo>
                  <a:close/>
                </a:path>
              </a:pathLst>
            </a:custGeom>
            <a:blipFill>
              <a:blip r:embed="rId5"/>
              <a:stretch>
                <a:fillRect l="-9130" t="0" r="-913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22415" y="1682596"/>
            <a:ext cx="6763087" cy="152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8"/>
              </a:lnSpc>
            </a:pPr>
            <a:r>
              <a:rPr lang="en-US" b="true" sz="5100" spc="163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Real-World Application 2: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6076" y="3877652"/>
            <a:ext cx="5715766" cy="439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Company:</a:t>
            </a: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League of Legends</a:t>
            </a:r>
          </a:p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System:</a:t>
            </a: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League of Legends</a:t>
            </a:r>
          </a:p>
          <a:p>
            <a:pPr algn="l">
              <a:lnSpc>
                <a:spcPts val="2700"/>
              </a:lnSpc>
            </a:pPr>
          </a:p>
          <a:p>
            <a:pPr algn="l" marL="485951" indent="-242975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Online multiplayer competitive game.</a:t>
            </a:r>
          </a:p>
          <a:p>
            <a:pPr algn="l" marL="485951" indent="-242975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Used by players around the world.</a:t>
            </a:r>
          </a:p>
          <a:p>
            <a:pPr algn="l" marL="485951" indent="-242975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Requires frequent content &amp; software updates.</a:t>
            </a:r>
          </a:p>
          <a:p>
            <a:pPr algn="l" marL="485951" indent="-242975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Gameplay must remain stable and responsive.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Riot maintains a planned League patch Schedule throughout the year.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40261" y="1905795"/>
            <a:ext cx="6763087" cy="130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92"/>
              </a:lnSpc>
            </a:pPr>
            <a:r>
              <a:rPr lang="en-US" b="true" sz="4400" spc="14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Example photo of System:</a:t>
            </a: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9976" y="2810117"/>
            <a:ext cx="8305372" cy="6057740"/>
            <a:chOff x="0" y="0"/>
            <a:chExt cx="1286719" cy="9385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6720" cy="938503"/>
            </a:xfrm>
            <a:custGeom>
              <a:avLst/>
              <a:gdLst/>
              <a:ahLst/>
              <a:cxnLst/>
              <a:rect r="r" b="b" t="t" l="l"/>
              <a:pathLst>
                <a:path h="938503" w="1286720">
                  <a:moveTo>
                    <a:pt x="93216" y="0"/>
                  </a:moveTo>
                  <a:lnTo>
                    <a:pt x="1193504" y="0"/>
                  </a:lnTo>
                  <a:cubicBezTo>
                    <a:pt x="1244985" y="0"/>
                    <a:pt x="1286720" y="41734"/>
                    <a:pt x="1286720" y="93216"/>
                  </a:cubicBezTo>
                  <a:lnTo>
                    <a:pt x="1286720" y="845287"/>
                  </a:lnTo>
                  <a:cubicBezTo>
                    <a:pt x="1286720" y="896768"/>
                    <a:pt x="1244985" y="938503"/>
                    <a:pt x="1193504" y="938503"/>
                  </a:cubicBezTo>
                  <a:lnTo>
                    <a:pt x="93216" y="938503"/>
                  </a:lnTo>
                  <a:cubicBezTo>
                    <a:pt x="41734" y="938503"/>
                    <a:pt x="0" y="896768"/>
                    <a:pt x="0" y="845287"/>
                  </a:cubicBezTo>
                  <a:lnTo>
                    <a:pt x="0" y="93216"/>
                  </a:lnTo>
                  <a:cubicBezTo>
                    <a:pt x="0" y="41734"/>
                    <a:pt x="41734" y="0"/>
                    <a:pt x="93216" y="0"/>
                  </a:cubicBezTo>
                  <a:close/>
                </a:path>
              </a:pathLst>
            </a:custGeom>
            <a:blipFill>
              <a:blip r:embed="rId3"/>
              <a:stretch>
                <a:fillRect l="-15484" t="0" r="-15484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307536" y="2961167"/>
            <a:ext cx="7733717" cy="566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Developers continuously create code &amp; content.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Automated tests identify defects.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Continuous integration provides rapid feedback.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Manual testing supplements automation.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 environments verify new builds.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Updates are delivered through frequent patches.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Player experience influences future improvements.</a:t>
            </a:r>
          </a:p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Riot has reported using continuous integration and extensive automated testing for League. Its engineering team described roughly 100,000 automated test cases per day and rapid feedback after code changes.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49509" y="268575"/>
            <a:ext cx="8916053" cy="152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8"/>
              </a:lnSpc>
            </a:pPr>
            <a:r>
              <a:rPr lang="en-US" b="true" sz="5100" spc="163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How League is Developed:</a:t>
            </a:r>
          </a:p>
        </p:txBody>
      </p: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67583" y="9258300"/>
            <a:ext cx="387202" cy="387202"/>
          </a:xfrm>
          <a:custGeom>
            <a:avLst/>
            <a:gdLst/>
            <a:ahLst/>
            <a:cxnLst/>
            <a:rect r="r" b="b" t="t" l="l"/>
            <a:pathLst>
              <a:path h="387202" w="387202">
                <a:moveTo>
                  <a:pt x="0" y="0"/>
                </a:moveTo>
                <a:lnTo>
                  <a:pt x="387202" y="0"/>
                </a:lnTo>
                <a:lnTo>
                  <a:pt x="387202" y="387202"/>
                </a:lnTo>
                <a:lnTo>
                  <a:pt x="0" y="387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90428" y="1839830"/>
            <a:ext cx="2308243" cy="8447170"/>
          </a:xfrm>
          <a:custGeom>
            <a:avLst/>
            <a:gdLst/>
            <a:ahLst/>
            <a:cxnLst/>
            <a:rect r="r" b="b" t="t" l="l"/>
            <a:pathLst>
              <a:path h="8447170" w="2308243">
                <a:moveTo>
                  <a:pt x="0" y="0"/>
                </a:moveTo>
                <a:lnTo>
                  <a:pt x="2308243" y="0"/>
                </a:lnTo>
                <a:lnTo>
                  <a:pt x="2308243" y="8447170"/>
                </a:lnTo>
                <a:lnTo>
                  <a:pt x="0" y="844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433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28700"/>
            <a:ext cx="837778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 spc="179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League of Legends Process Model: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29799" y="943316"/>
            <a:ext cx="5629501" cy="97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3"/>
              </a:lnSpc>
              <a:spcBef>
                <a:spcPct val="0"/>
              </a:spcBef>
            </a:pPr>
            <a:r>
              <a:rPr lang="en-US" sz="317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Agile/Incremental Charateristics: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5043" y="3524249"/>
            <a:ext cx="6445102" cy="573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Frequent changes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Continuous testing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Regular incremental releases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Feedback loops support future updates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Riot has described a continuous-delivery pipeline that gradually increases test coverage before deployment. League also uses frequent scheduled patches.</a:t>
            </a: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9268621">
            <a:off x="-568876" y="2789642"/>
            <a:ext cx="24025991" cy="18029504"/>
          </a:xfrm>
          <a:custGeom>
            <a:avLst/>
            <a:gdLst/>
            <a:ahLst/>
            <a:cxnLst/>
            <a:rect r="r" b="b" t="t" l="l"/>
            <a:pathLst>
              <a:path h="18029504" w="24025991">
                <a:moveTo>
                  <a:pt x="24025991" y="18029504"/>
                </a:moveTo>
                <a:lnTo>
                  <a:pt x="0" y="18029504"/>
                </a:lnTo>
                <a:lnTo>
                  <a:pt x="0" y="0"/>
                </a:lnTo>
                <a:lnTo>
                  <a:pt x="24025991" y="0"/>
                </a:lnTo>
                <a:lnTo>
                  <a:pt x="24025991" y="1802950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951066" y="158687"/>
          <a:ext cx="14001239" cy="9969627"/>
        </p:xfrm>
        <a:graphic>
          <a:graphicData uri="http://schemas.openxmlformats.org/drawingml/2006/table">
            <a:tbl>
              <a:tblPr/>
              <a:tblGrid>
                <a:gridCol w="4415155"/>
                <a:gridCol w="4415155"/>
                <a:gridCol w="5170930"/>
              </a:tblGrid>
              <a:tr h="9219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292927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EpicCare EHR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League of Legends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9219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Company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Epic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Riot Games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219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Primary Users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Healthcare Organizations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Game Players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3380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Hybrid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Agile/Incremental characteristics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3380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Requirements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Clinical &amp; regulatory needs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Gameplay and Player needs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3380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Extensive 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Automated + Manuel 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296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Deployment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Controlled implementation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Frequent patches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219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Updates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Ongoing releases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Regular updates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3380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Feedback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Healthcare users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Players/development teams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0" y="3238615"/>
            <a:ext cx="3629360" cy="3819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8"/>
              </a:lnSpc>
            </a:pPr>
            <a:r>
              <a:rPr lang="en-US" b="true" sz="5100" spc="163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EpicCare vs. League of Legends: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9268621">
            <a:off x="-568876" y="2789642"/>
            <a:ext cx="24025991" cy="18029504"/>
          </a:xfrm>
          <a:custGeom>
            <a:avLst/>
            <a:gdLst/>
            <a:ahLst/>
            <a:cxnLst/>
            <a:rect r="r" b="b" t="t" l="l"/>
            <a:pathLst>
              <a:path h="18029504" w="24025991">
                <a:moveTo>
                  <a:pt x="24025991" y="18029504"/>
                </a:moveTo>
                <a:lnTo>
                  <a:pt x="0" y="18029504"/>
                </a:lnTo>
                <a:lnTo>
                  <a:pt x="0" y="0"/>
                </a:lnTo>
                <a:lnTo>
                  <a:pt x="24025991" y="0"/>
                </a:lnTo>
                <a:lnTo>
                  <a:pt x="24025991" y="1802950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349353" y="1402620"/>
          <a:ext cx="14001239" cy="8645652"/>
        </p:xfrm>
        <a:graphic>
          <a:graphicData uri="http://schemas.openxmlformats.org/drawingml/2006/table">
            <a:tbl>
              <a:tblPr/>
              <a:tblGrid>
                <a:gridCol w="6448684"/>
                <a:gridCol w="7552555"/>
              </a:tblGrid>
              <a:tr h="9234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EpicCare EHR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League of Legends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9234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Safety is Critical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Speed &amp; Responsiveness is Important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234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Strong documentation needed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Rapid feedback loops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3401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Regulatory contraints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Frequently changing content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3401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Clinical &amp; regulatory needs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Gameplay and Player needs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3401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Extensive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ontinuous integration/testing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311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ontrolled deployments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Frequent patches releases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234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Long-term evolution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Continuous game evolution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766882" y="340741"/>
            <a:ext cx="13166181" cy="68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8"/>
              </a:lnSpc>
            </a:pPr>
            <a:r>
              <a:rPr lang="en-US" b="true" sz="4600" spc="147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Process Comparison: EpicCare VS. LoL</a:t>
            </a: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41957" y="2453576"/>
            <a:ext cx="5851123" cy="6000583"/>
          </a:xfrm>
          <a:custGeom>
            <a:avLst/>
            <a:gdLst/>
            <a:ahLst/>
            <a:cxnLst/>
            <a:rect r="r" b="b" t="t" l="l"/>
            <a:pathLst>
              <a:path h="6000583" w="5851123">
                <a:moveTo>
                  <a:pt x="0" y="0"/>
                </a:moveTo>
                <a:lnTo>
                  <a:pt x="5851122" y="0"/>
                </a:lnTo>
                <a:lnTo>
                  <a:pt x="5851122" y="6000584"/>
                </a:lnTo>
                <a:lnTo>
                  <a:pt x="0" y="6000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77" t="0" r="-1277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554149" y="2362883"/>
            <a:ext cx="6091277" cy="6091277"/>
          </a:xfrm>
          <a:custGeom>
            <a:avLst/>
            <a:gdLst/>
            <a:ahLst/>
            <a:cxnLst/>
            <a:rect r="r" b="b" t="t" l="l"/>
            <a:pathLst>
              <a:path h="6091277" w="6091277">
                <a:moveTo>
                  <a:pt x="0" y="0"/>
                </a:moveTo>
                <a:lnTo>
                  <a:pt x="6091276" y="0"/>
                </a:lnTo>
                <a:lnTo>
                  <a:pt x="6091276" y="6091277"/>
                </a:lnTo>
                <a:lnTo>
                  <a:pt x="0" y="60912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6336160">
            <a:off x="-4457700" y="-1247462"/>
            <a:ext cx="10972800" cy="8229600"/>
          </a:xfrm>
          <a:custGeom>
            <a:avLst/>
            <a:gdLst/>
            <a:ahLst/>
            <a:cxnLst/>
            <a:rect r="r" b="b" t="t" l="l"/>
            <a:pathLst>
              <a:path h="8229600" w="10972800">
                <a:moveTo>
                  <a:pt x="0" y="0"/>
                </a:moveTo>
                <a:lnTo>
                  <a:pt x="10972800" y="0"/>
                </a:lnTo>
                <a:lnTo>
                  <a:pt x="109728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34019" y="343830"/>
            <a:ext cx="11281409" cy="82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90"/>
              </a:lnSpc>
            </a:pPr>
            <a:r>
              <a:rPr lang="en-US" b="true" sz="5500" spc="176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Choosing the Right model: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55257" y="1785215"/>
            <a:ext cx="3224521" cy="89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8"/>
              </a:lnSpc>
            </a:pPr>
            <a:r>
              <a:rPr lang="en-US" b="true" sz="25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Waterfall works well when: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76904" y="3312538"/>
            <a:ext cx="4381228" cy="408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26" indent="-277463" lvl="1">
              <a:lnSpc>
                <a:spcPts val="4112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Requirements are stable.</a:t>
            </a:r>
          </a:p>
          <a:p>
            <a:pPr algn="l" marL="554926" indent="-277463" lvl="1">
              <a:lnSpc>
                <a:spcPts val="4112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Strong documentation is required.</a:t>
            </a:r>
          </a:p>
          <a:p>
            <a:pPr algn="l" marL="554926" indent="-277463" lvl="1">
              <a:lnSpc>
                <a:spcPts val="4112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Changes are expected to be limited.</a:t>
            </a:r>
          </a:p>
          <a:p>
            <a:pPr algn="l" marL="554926" indent="-277463" lvl="1">
              <a:lnSpc>
                <a:spcPts val="4112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Planning/predictability are priorities.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22127" y="3541037"/>
            <a:ext cx="5155321" cy="363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27" indent="-277463" lvl="1">
              <a:lnSpc>
                <a:spcPts val="4112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Requirements change frequently.</a:t>
            </a:r>
          </a:p>
          <a:p>
            <a:pPr algn="l" marL="554927" indent="-277463" lvl="1">
              <a:lnSpc>
                <a:spcPts val="4112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 feedback is important.</a:t>
            </a:r>
          </a:p>
          <a:p>
            <a:pPr algn="l" marL="554927" indent="-277463" lvl="1">
              <a:lnSpc>
                <a:spcPts val="4112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Early releases provide value.</a:t>
            </a:r>
          </a:p>
          <a:p>
            <a:pPr algn="l" marL="554927" indent="-277463" lvl="1">
              <a:lnSpc>
                <a:spcPts val="4112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Rapid adaption is necessary.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61543" y="1785215"/>
            <a:ext cx="4276489" cy="89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8"/>
              </a:lnSpc>
            </a:pPr>
            <a:r>
              <a:rPr lang="en-US" b="true" sz="25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Agile/Incremental works well when: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819006" y="8361755"/>
            <a:ext cx="11511433" cy="1619880"/>
            <a:chOff x="0" y="0"/>
            <a:chExt cx="5776041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76040" cy="812800"/>
            </a:xfrm>
            <a:custGeom>
              <a:avLst/>
              <a:gdLst/>
              <a:ahLst/>
              <a:cxnLst/>
              <a:rect r="r" b="b" t="t" l="l"/>
              <a:pathLst>
                <a:path h="812800" w="5776040">
                  <a:moveTo>
                    <a:pt x="34300" y="0"/>
                  </a:moveTo>
                  <a:lnTo>
                    <a:pt x="5741741" y="0"/>
                  </a:lnTo>
                  <a:cubicBezTo>
                    <a:pt x="5750838" y="0"/>
                    <a:pt x="5759562" y="3614"/>
                    <a:pt x="5765994" y="10046"/>
                  </a:cubicBezTo>
                  <a:cubicBezTo>
                    <a:pt x="5772427" y="16479"/>
                    <a:pt x="5776040" y="25203"/>
                    <a:pt x="5776040" y="34300"/>
                  </a:cubicBezTo>
                  <a:lnTo>
                    <a:pt x="5776040" y="778500"/>
                  </a:lnTo>
                  <a:cubicBezTo>
                    <a:pt x="5776040" y="787597"/>
                    <a:pt x="5772427" y="796321"/>
                    <a:pt x="5765994" y="802754"/>
                  </a:cubicBezTo>
                  <a:cubicBezTo>
                    <a:pt x="5759562" y="809186"/>
                    <a:pt x="5750838" y="812800"/>
                    <a:pt x="5741741" y="812800"/>
                  </a:cubicBezTo>
                  <a:lnTo>
                    <a:pt x="34300" y="812800"/>
                  </a:lnTo>
                  <a:cubicBezTo>
                    <a:pt x="25203" y="812800"/>
                    <a:pt x="16479" y="809186"/>
                    <a:pt x="10046" y="802754"/>
                  </a:cubicBezTo>
                  <a:cubicBezTo>
                    <a:pt x="3614" y="796321"/>
                    <a:pt x="0" y="787597"/>
                    <a:pt x="0" y="778500"/>
                  </a:cubicBezTo>
                  <a:lnTo>
                    <a:pt x="0" y="34300"/>
                  </a:lnTo>
                  <a:cubicBezTo>
                    <a:pt x="0" y="25203"/>
                    <a:pt x="3614" y="16479"/>
                    <a:pt x="10046" y="10046"/>
                  </a:cubicBezTo>
                  <a:cubicBezTo>
                    <a:pt x="16479" y="3614"/>
                    <a:pt x="25203" y="0"/>
                    <a:pt x="34300" y="0"/>
                  </a:cubicBezTo>
                  <a:close/>
                </a:path>
              </a:pathLst>
            </a:custGeom>
            <a:solidFill>
              <a:srgbClr val="151A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77604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56507" y="8478876"/>
            <a:ext cx="11036433" cy="1309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03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Larger Projects:</a:t>
            </a:r>
          </a:p>
          <a:p>
            <a:pPr algn="l" marL="331660" indent="-165830" lvl="1">
              <a:lnSpc>
                <a:spcPts val="2457"/>
              </a:lnSpc>
              <a:buFont typeface="Arial"/>
              <a:buChar char="•"/>
            </a:pPr>
            <a:r>
              <a:rPr lang="en-US" sz="153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Often combine multiple process models.</a:t>
            </a:r>
          </a:p>
          <a:p>
            <a:pPr algn="l">
              <a:lnSpc>
                <a:spcPts val="2457"/>
              </a:lnSpc>
              <a:spcBef>
                <a:spcPct val="0"/>
              </a:spcBef>
            </a:pPr>
            <a:r>
              <a:rPr lang="en-US" sz="153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Software process models aren’t mutually exclusive; large systems can use diffrent appraoches for diffrent portions of the projects.</a:t>
            </a:r>
          </a:p>
        </p:txBody>
      </p: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695556">
            <a:off x="-4596251" y="-10534417"/>
            <a:ext cx="24025991" cy="18029504"/>
          </a:xfrm>
          <a:custGeom>
            <a:avLst/>
            <a:gdLst/>
            <a:ahLst/>
            <a:cxnLst/>
            <a:rect r="r" b="b" t="t" l="l"/>
            <a:pathLst>
              <a:path h="18029504" w="24025991">
                <a:moveTo>
                  <a:pt x="24025991" y="18029504"/>
                </a:moveTo>
                <a:lnTo>
                  <a:pt x="0" y="18029504"/>
                </a:lnTo>
                <a:lnTo>
                  <a:pt x="0" y="0"/>
                </a:lnTo>
                <a:lnTo>
                  <a:pt x="24025991" y="0"/>
                </a:lnTo>
                <a:lnTo>
                  <a:pt x="24025991" y="1802950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10820" y="67913"/>
            <a:ext cx="12266360" cy="194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</a:pPr>
            <a:r>
              <a:rPr lang="en-US" b="true" sz="6524" spc="208">
                <a:solidFill>
                  <a:srgbClr val="151A38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Why do companies use diffrent processes?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3998" y="2822898"/>
            <a:ext cx="7999242" cy="67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104" indent="-299052" lvl="1">
              <a:lnSpc>
                <a:spcPts val="4432"/>
              </a:lnSpc>
              <a:buFont typeface="Arial"/>
              <a:buChar char="•"/>
            </a:pPr>
            <a:r>
              <a:rPr lang="en-US" sz="27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Every software project has diffrent needs.</a:t>
            </a:r>
          </a:p>
          <a:p>
            <a:pPr algn="l" marL="598104" indent="-299052" lvl="1">
              <a:lnSpc>
                <a:spcPts val="4432"/>
              </a:lnSpc>
              <a:buFont typeface="Arial"/>
              <a:buChar char="•"/>
            </a:pPr>
            <a:r>
              <a:rPr lang="en-US" sz="27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Safety may matter more than release speed.</a:t>
            </a:r>
          </a:p>
          <a:p>
            <a:pPr algn="l" marL="598104" indent="-299052" lvl="1">
              <a:lnSpc>
                <a:spcPts val="4432"/>
              </a:lnSpc>
              <a:buFont typeface="Arial"/>
              <a:buChar char="•"/>
            </a:pPr>
            <a:r>
              <a:rPr lang="en-US" sz="27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Requirements may be stable or constantly changing.</a:t>
            </a:r>
          </a:p>
          <a:p>
            <a:pPr algn="l" marL="598104" indent="-299052" lvl="1">
              <a:lnSpc>
                <a:spcPts val="4432"/>
              </a:lnSpc>
              <a:buFont typeface="Arial"/>
              <a:buChar char="•"/>
            </a:pPr>
            <a:r>
              <a:rPr lang="en-US" sz="27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size affects coordination.</a:t>
            </a:r>
          </a:p>
          <a:p>
            <a:pPr algn="l" marL="598104" indent="-299052" lvl="1">
              <a:lnSpc>
                <a:spcPts val="4432"/>
              </a:lnSpc>
              <a:buFont typeface="Arial"/>
              <a:buChar char="•"/>
            </a:pPr>
            <a:r>
              <a:rPr lang="en-US" sz="27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Regualtions may require additional validation.</a:t>
            </a:r>
          </a:p>
          <a:p>
            <a:pPr algn="l" marL="598104" indent="-299052" lvl="1">
              <a:lnSpc>
                <a:spcPts val="4432"/>
              </a:lnSpc>
              <a:buFont typeface="Arial"/>
              <a:buChar char="•"/>
            </a:pPr>
            <a:r>
              <a:rPr lang="en-US" sz="27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 expectations affect release frequency.</a:t>
            </a:r>
          </a:p>
          <a:p>
            <a:pPr algn="l" marL="598104" indent="-299052" lvl="1">
              <a:lnSpc>
                <a:spcPts val="4432"/>
              </a:lnSpc>
              <a:buFont typeface="Arial"/>
              <a:buChar char="•"/>
            </a:pPr>
            <a:r>
              <a:rPr lang="en-US" sz="27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Cost &amp; risk influence development decisions.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85874" y="3370268"/>
            <a:ext cx="9007058" cy="563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2"/>
              </a:lnSpc>
            </a:pPr>
            <a:r>
              <a:rPr lang="en-US" sz="2570" spc="8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Conclusion:</a:t>
            </a:r>
          </a:p>
          <a:p>
            <a:pPr algn="l" marL="554925" indent="-277463" lvl="1">
              <a:lnSpc>
                <a:spcPts val="4112"/>
              </a:lnSpc>
              <a:buFont typeface="Arial"/>
              <a:buChar char="•"/>
            </a:pPr>
            <a:r>
              <a:rPr lang="en-US" sz="2570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</a:t>
            </a:r>
            <a:r>
              <a:rPr lang="en-US" sz="2570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ere is no single software process that works best for every project.</a:t>
            </a:r>
          </a:p>
          <a:p>
            <a:pPr algn="l">
              <a:lnSpc>
                <a:spcPts val="4112"/>
              </a:lnSpc>
            </a:pPr>
          </a:p>
          <a:p>
            <a:pPr algn="l">
              <a:lnSpc>
                <a:spcPts val="4112"/>
              </a:lnSpc>
            </a:pPr>
            <a:r>
              <a:rPr lang="en-US" sz="2570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EpicCare and League illustrate this very well: healthcare software operates in an enviroment where clincical workflows, interoperability, testing, and regulatory standards are especially significant, while League operates with frequent code/content changes, automated testing, CI, and regular patches.</a:t>
            </a:r>
          </a:p>
        </p:txBody>
      </p: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695556">
            <a:off x="-4705368" y="-11167296"/>
            <a:ext cx="24025991" cy="18029504"/>
          </a:xfrm>
          <a:custGeom>
            <a:avLst/>
            <a:gdLst/>
            <a:ahLst/>
            <a:cxnLst/>
            <a:rect r="r" b="b" t="t" l="l"/>
            <a:pathLst>
              <a:path h="18029504" w="24025991">
                <a:moveTo>
                  <a:pt x="24025991" y="18029504"/>
                </a:moveTo>
                <a:lnTo>
                  <a:pt x="0" y="18029504"/>
                </a:lnTo>
                <a:lnTo>
                  <a:pt x="0" y="0"/>
                </a:lnTo>
                <a:lnTo>
                  <a:pt x="24025991" y="0"/>
                </a:lnTo>
                <a:lnTo>
                  <a:pt x="24025991" y="1802950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4243" y="4712113"/>
            <a:ext cx="6439515" cy="96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</a:pPr>
            <a:r>
              <a:rPr lang="en-US" b="true" sz="6524" spc="208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Thank you!</a:t>
            </a:r>
          </a:p>
        </p:txBody>
      </p:sp>
    </p:spTree>
  </p:cSld>
  <p:clrMapOvr>
    <a:masterClrMapping/>
  </p:clrMapOvr>
  <p:transition spd="fast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t="0" r="-1944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695556">
            <a:off x="-4705368" y="-11167296"/>
            <a:ext cx="24025991" cy="18029504"/>
          </a:xfrm>
          <a:custGeom>
            <a:avLst/>
            <a:gdLst/>
            <a:ahLst/>
            <a:cxnLst/>
            <a:rect r="r" b="b" t="t" l="l"/>
            <a:pathLst>
              <a:path h="18029504" w="24025991">
                <a:moveTo>
                  <a:pt x="24025991" y="18029504"/>
                </a:moveTo>
                <a:lnTo>
                  <a:pt x="0" y="18029504"/>
                </a:lnTo>
                <a:lnTo>
                  <a:pt x="0" y="0"/>
                </a:lnTo>
                <a:lnTo>
                  <a:pt x="24025991" y="0"/>
                </a:lnTo>
                <a:lnTo>
                  <a:pt x="24025991" y="1802950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77006" y="325612"/>
            <a:ext cx="6439515" cy="96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</a:pPr>
            <a:r>
              <a:rPr lang="en-US" b="true" sz="6524" spc="208">
                <a:solidFill>
                  <a:srgbClr val="151A38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References: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14002" y="2599128"/>
            <a:ext cx="13459996" cy="595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291" indent="-323646" lvl="1">
              <a:lnSpc>
                <a:spcPts val="4796"/>
              </a:lnSpc>
              <a:buFont typeface="Arial"/>
              <a:buChar char="•"/>
            </a:pPr>
            <a:r>
              <a:rPr lang="en-US" b="true" sz="29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Epic Systems Corporation. (2026). </a:t>
            </a:r>
            <a:r>
              <a:rPr lang="en-US" b="true" sz="2998" i="true" u="sng">
                <a:solidFill>
                  <a:srgbClr val="1F48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  <a:hlinkClick r:id="rId4" tooltip="https://www.epic.com"/>
              </a:rPr>
              <a:t>Our software.</a:t>
            </a:r>
          </a:p>
          <a:p>
            <a:pPr algn="l" marL="647291" indent="-323646" lvl="1">
              <a:lnSpc>
                <a:spcPts val="4796"/>
              </a:lnSpc>
              <a:buFont typeface="Arial"/>
              <a:buChar char="•"/>
            </a:pPr>
            <a:r>
              <a:rPr lang="en-US" b="true" sz="29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Epic Systems Corporation. (n.d.). </a:t>
            </a:r>
            <a:r>
              <a:rPr lang="en-US" b="true" sz="2998" i="true" u="sng">
                <a:solidFill>
                  <a:srgbClr val="1F48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  <a:hlinkClick r:id="rId5" tooltip="https://open.epic.com/DeveloperResources"/>
              </a:rPr>
              <a:t>Developer resources.</a:t>
            </a:r>
            <a:r>
              <a:rPr lang="en-US" b="true" sz="2998">
                <a:solidFill>
                  <a:srgbClr val="1F4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l" marL="647291" indent="-323646" lvl="1">
              <a:lnSpc>
                <a:spcPts val="4796"/>
              </a:lnSpc>
              <a:buFont typeface="Arial"/>
              <a:buChar char="•"/>
            </a:pPr>
            <a:r>
              <a:rPr lang="en-US" b="true" sz="29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Epic Systems Corporation. (n.d.). </a:t>
            </a:r>
            <a:r>
              <a:rPr lang="en-US" b="true" sz="2998" i="true" u="sng">
                <a:solidFill>
                  <a:srgbClr val="1F48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  <a:hlinkClick r:id="rId6" tooltip="https://careers.epic.com/jobs/quality-manager/"/>
              </a:rPr>
              <a:t>Quality management.</a:t>
            </a:r>
            <a:r>
              <a:rPr lang="en-US" b="true" sz="2998" u="sng">
                <a:solidFill>
                  <a:srgbClr val="1F48FF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7" tooltip="https://careers.epic.com/jobs/quality-manager/"/>
              </a:rPr>
              <a:t> Epic Careers.</a:t>
            </a:r>
          </a:p>
          <a:p>
            <a:pPr algn="l" marL="647291" indent="-323646" lvl="1">
              <a:lnSpc>
                <a:spcPts val="4796"/>
              </a:lnSpc>
              <a:buFont typeface="Arial"/>
              <a:buChar char="•"/>
            </a:pPr>
            <a:r>
              <a:rPr lang="en-US" b="true" sz="29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Riot Games. (2016). </a:t>
            </a:r>
            <a:r>
              <a:rPr lang="en-US" b="true" sz="2998" i="true" u="sng">
                <a:solidFill>
                  <a:srgbClr val="1F48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  <a:hlinkClick r:id="rId8" tooltip="https://www.riotgames.com/en/news/automated-testing-league-legends"/>
              </a:rPr>
              <a:t>Automated testing for League of Legends.</a:t>
            </a:r>
          </a:p>
          <a:p>
            <a:pPr algn="l" marL="647291" indent="-323646" lvl="1">
              <a:lnSpc>
                <a:spcPts val="4796"/>
              </a:lnSpc>
              <a:buFont typeface="Arial"/>
              <a:buChar char="•"/>
            </a:pPr>
            <a:r>
              <a:rPr lang="en-US" b="true" sz="29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Riot Games. (2016). </a:t>
            </a:r>
            <a:r>
              <a:rPr lang="en-US" b="true" sz="2998" i="true" u="sng">
                <a:solidFill>
                  <a:srgbClr val="1F48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  <a:hlinkClick r:id="rId9" tooltip="https://www.riotgames.com/en/news/running-automated-test-pipeline-league-client-update"/>
              </a:rPr>
              <a:t>Running an automated test pipeline for the League client update.</a:t>
            </a:r>
          </a:p>
          <a:p>
            <a:pPr algn="l" marL="647291" indent="-323646" lvl="1">
              <a:lnSpc>
                <a:spcPts val="4796"/>
              </a:lnSpc>
              <a:buFont typeface="Arial"/>
              <a:buChar char="•"/>
            </a:pPr>
            <a:r>
              <a:rPr lang="en-US" b="true" sz="29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Riot Games. (2026). </a:t>
            </a:r>
            <a:r>
              <a:rPr lang="en-US" b="true" sz="2998" i="true" u="sng">
                <a:solidFill>
                  <a:srgbClr val="1F48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  <a:hlinkClick r:id="rId10" tooltip="https://support.riotgames.com/en-us/league-of-legends/gameplay/patch-schedule-league-of-legends"/>
              </a:rPr>
              <a:t>Patch schedule – League of Legends.</a:t>
            </a:r>
          </a:p>
          <a:p>
            <a:pPr algn="l" marL="647291" indent="-323646" lvl="1">
              <a:lnSpc>
                <a:spcPts val="4796"/>
              </a:lnSpc>
              <a:buFont typeface="Arial"/>
              <a:buChar char="•"/>
            </a:pPr>
            <a:r>
              <a:rPr lang="en-US" b="true" sz="29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Sommerville, I. (2015). </a:t>
            </a:r>
            <a:r>
              <a:rPr lang="en-US" b="true" sz="2998" i="true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Software engineering</a:t>
            </a:r>
            <a:r>
              <a:rPr lang="en-US" b="true" sz="29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(10th ed.). </a:t>
            </a:r>
            <a:r>
              <a:rPr lang="en-US" b="true" sz="2998" u="sng">
                <a:solidFill>
                  <a:srgbClr val="1F48FF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11" tooltip="https://dn790001.ca.archive.org/0/items/bme-vik-konyvek/Software%20Engineering%20-%20Ian%20Sommerville.pdf"/>
              </a:rPr>
              <a:t>Pearson.</a:t>
            </a:r>
          </a:p>
          <a:p>
            <a:pPr algn="l">
              <a:lnSpc>
                <a:spcPts val="4796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DAHXXOaaNhA</dc:identifier>
  <dcterms:modified xsi:type="dcterms:W3CDTF">2011-08-01T06:04:30Z</dcterms:modified>
  <cp:revision>1</cp:revision>
  <dc:title>Lab 2</dc:title>
</cp:coreProperties>
</file>